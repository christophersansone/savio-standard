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cold. Let the tagline sit for a beat before speaking.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tagline. Pause. Then move to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image" Target="../media/image-25-1.png"/><Relationship Id="rId4" Type="http://schemas.openxmlformats.org/officeDocument/2006/relationships/image" Target="../media/image-25-4.png"/><Relationship Id="rId5" Type="http://schemas.openxmlformats.org/officeDocument/2006/relationships/image" Target="../media/image-25-4.png"/><Relationship Id="rId6" Type="http://schemas.openxmlformats.org/officeDocument/2006/relationships/image" Target="../media/image-25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9105" y="685800"/>
            <a:ext cx="914400" cy="91440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seedling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7121" y="81381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745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PARENT-LED MOVEMENT FOR CATHOLIC GRADE SCHOOLS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Savio Standard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31520" y="370332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4C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antidote to drifting Catholic school culture.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57607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 is the standard, not the goal.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777240" cy="777240"/>
          </a:xfrm>
          <a:prstGeom prst="ellipse">
            <a:avLst/>
          </a:prstGeom>
          <a:solidFill>
            <a:srgbClr val="131F33"/>
          </a:solidFill>
          <a:ln/>
        </p:spPr>
      </p:sp>
      <p:pic>
        <p:nvPicPr>
          <p:cNvPr id="3" name="Image 0" descr="icons/quote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748894"/>
            <a:ext cx="559613" cy="559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621792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I've done this before.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691640" y="178308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I've spent years helping communities build a culture on purpose — and watching it slip away by default the moment nobody tends it. I've seen this happen in companies. I'm watching the same pattern now, in Catholic schools.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691640" y="352044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that fix it are the same ones I've always used. The stakes are not — here, it isn't a quarterly number. It's our children's souls.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seedling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65105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943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2:15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54480" y="9144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Till and keep the garden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554480" y="178308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900" i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command God gave Adam wasn't to build or conquer. It was to till and keep the garden.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Till: cultivate it — do the ongoing work that makes it bear fruit. Keep: guard it — protect it from what would choke it.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554480" y="3429000"/>
            <a:ext cx="9692640" cy="1691640"/>
          </a:xfrm>
          <a:prstGeom prst="roundRect">
            <a:avLst>
              <a:gd name="adj" fmla="val 4324"/>
            </a:avLst>
          </a:prstGeom>
          <a:solidFill>
            <a:srgbClr val="131F33"/>
          </a:solidFill>
          <a:ln/>
        </p:spPr>
      </p:sp>
      <p:sp>
        <p:nvSpPr>
          <p:cNvPr id="8" name="Text 5"/>
          <p:cNvSpPr/>
          <p:nvPr/>
        </p:nvSpPr>
        <p:spPr>
          <a:xfrm>
            <a:off x="1920240" y="363931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920240" y="397764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culture of a community is the shared, lived standard of how its members actually treat one another — not what is written on the wall, but what is modeled, tolerated, and repeated, day to day. It is the garden entrusted to the adults in it.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wind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65105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943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54480" y="9144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entropy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554480" y="1828800"/>
            <a:ext cx="9692640" cy="1051560"/>
          </a:xfrm>
          <a:prstGeom prst="roundRect">
            <a:avLst>
              <a:gd name="adj" fmla="val 6957"/>
            </a:avLst>
          </a:prstGeom>
          <a:solidFill>
            <a:srgbClr val="131F33"/>
          </a:solidFill>
          <a:ln/>
        </p:spPr>
      </p:sp>
      <p:sp>
        <p:nvSpPr>
          <p:cNvPr id="7" name="Text 4"/>
          <p:cNvSpPr/>
          <p:nvPr/>
        </p:nvSpPr>
        <p:spPr>
          <a:xfrm>
            <a:off x="1920240" y="182880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Entropy: the natural tendency of any system, left alone, to move toward disorder — not through malice, through neglect.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315468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900" i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garden left untended doesn't stay empty. It grows weeds.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community's culture left untended doesn't stay neutral. It degrades. And, left untended long enough in a community that still speaks the language of virtue, it doesn't just degrade — it inverts.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untended garden moves through the same cycle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1051560" cy="1051560"/>
          </a:xfrm>
          <a:prstGeom prst="ellipse">
            <a:avLst/>
          </a:prstGeom>
          <a:solidFill>
            <a:srgbClr val="1B2A4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929384" y="2958084"/>
            <a:ext cx="1051560" cy="164592"/>
          </a:xfrm>
          <a:prstGeom prst="rightArrow">
            <a:avLst/>
          </a:prstGeom>
          <a:solidFill>
            <a:srgbClr val="C9A75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40690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tends it daily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35808" y="2514600"/>
            <a:ext cx="1051560" cy="1051560"/>
          </a:xfrm>
          <a:prstGeom prst="ellipse">
            <a:avLst/>
          </a:prstGeom>
          <a:solidFill>
            <a:srgbClr val="1B2A44"/>
          </a:solidFill>
          <a:ln/>
        </p:spPr>
      </p:sp>
      <p:sp>
        <p:nvSpPr>
          <p:cNvPr id="9" name="Text 7"/>
          <p:cNvSpPr/>
          <p:nvPr/>
        </p:nvSpPr>
        <p:spPr>
          <a:xfrm>
            <a:off x="3035808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142232" y="2958084"/>
            <a:ext cx="1051560" cy="164592"/>
          </a:xfrm>
          <a:prstGeom prst="rightArrow">
            <a:avLst/>
          </a:prstGeom>
          <a:solidFill>
            <a:srgbClr val="C9A75C"/>
          </a:solidFill>
          <a:ln/>
        </p:spPr>
      </p:sp>
      <p:sp>
        <p:nvSpPr>
          <p:cNvPr id="11" name="Text 9"/>
          <p:cNvSpPr/>
          <p:nvPr/>
        </p:nvSpPr>
        <p:spPr>
          <a:xfrm>
            <a:off x="2624328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Quiet drift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24328" y="40690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exceptions, unnoticed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48656" y="2514600"/>
            <a:ext cx="1051560" cy="1051560"/>
          </a:xfrm>
          <a:prstGeom prst="ellipse">
            <a:avLst/>
          </a:prstGeom>
          <a:solidFill>
            <a:srgbClr val="1B2A44"/>
          </a:solidFill>
          <a:ln/>
        </p:spPr>
      </p:sp>
      <p:sp>
        <p:nvSpPr>
          <p:cNvPr id="14" name="Text 12"/>
          <p:cNvSpPr/>
          <p:nvPr/>
        </p:nvSpPr>
        <p:spPr>
          <a:xfrm>
            <a:off x="5248656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6355080" y="2958084"/>
            <a:ext cx="1051560" cy="164592"/>
          </a:xfrm>
          <a:prstGeom prst="rightArrow">
            <a:avLst/>
          </a:prstGeom>
          <a:solidFill>
            <a:srgbClr val="C9A75C"/>
          </a:solidFill>
          <a:ln/>
        </p:spPr>
      </p:sp>
      <p:sp>
        <p:nvSpPr>
          <p:cNvPr id="16" name="Text 14"/>
          <p:cNvSpPr/>
          <p:nvPr/>
        </p:nvSpPr>
        <p:spPr>
          <a:xfrm>
            <a:off x="4837176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37176" y="40690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erode; no one names 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61504" y="2514600"/>
            <a:ext cx="1051560" cy="1051560"/>
          </a:xfrm>
          <a:prstGeom prst="ellipse">
            <a:avLst/>
          </a:prstGeom>
          <a:solidFill>
            <a:srgbClr val="1B2A44"/>
          </a:solidFill>
          <a:ln/>
        </p:spPr>
      </p:sp>
      <p:sp>
        <p:nvSpPr>
          <p:cNvPr id="19" name="Text 17"/>
          <p:cNvSpPr/>
          <p:nvPr/>
        </p:nvSpPr>
        <p:spPr>
          <a:xfrm>
            <a:off x="7461504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8567928" y="2958084"/>
            <a:ext cx="1051560" cy="164592"/>
          </a:xfrm>
          <a:prstGeom prst="rightArrow">
            <a:avLst/>
          </a:prstGeom>
          <a:solidFill>
            <a:srgbClr val="C9A75C"/>
          </a:solidFill>
          <a:ln/>
        </p:spPr>
      </p:sp>
      <p:sp>
        <p:nvSpPr>
          <p:cNvPr id="21" name="Text 19"/>
          <p:cNvSpPr/>
          <p:nvPr/>
        </p:nvSpPr>
        <p:spPr>
          <a:xfrm>
            <a:off x="7050024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Crisis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50024" y="40690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becomes visible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74352" y="2514600"/>
            <a:ext cx="1051560" cy="1051560"/>
          </a:xfrm>
          <a:prstGeom prst="ellipse">
            <a:avLst/>
          </a:prstGeom>
          <a:solidFill>
            <a:srgbClr val="A5802E"/>
          </a:solidFill>
          <a:ln/>
        </p:spPr>
      </p:sp>
      <p:sp>
        <p:nvSpPr>
          <p:cNvPr id="24" name="Text 22"/>
          <p:cNvSpPr/>
          <p:nvPr/>
        </p:nvSpPr>
        <p:spPr>
          <a:xfrm>
            <a:off x="9674352" y="2514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262872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Replanting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62872" y="40690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cycle starts over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variable I have ever seen is whether someone catches it before the crisis.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“Our culture is strong. We don’t need to write it down.”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63040" y="3794760"/>
            <a:ext cx="9262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dangerous sentence I know of in any community — and Catholic schools say a version of it every single day.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31520" cy="73152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redo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69677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6400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schools decay faster than companies, #1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54480" y="9601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turnover engine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554480" y="1965960"/>
            <a:ext cx="9692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might turn over 15–20% of its people in a year. A school turns over an entire grade, every single year.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that forward nine years and nearly every family in the building has cycled through once.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that lives only as unwritten, tribal knowledge — “how we do things here” — cannot survive a churn rate no company would ever have to withstand.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31520" cy="73152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users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69677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6400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schools decay faster than companies, #2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54480" y="9601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generational shift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554480" y="1783080"/>
            <a:ext cx="9692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incoming class of parents was raised under different norms than the last. The generation raised on participation trophies is now the parent generation — not a criticism, just a fact: assumptions about conflict and resilience shift with every cohort.</a:t>
            </a:r>
            <a:endParaRPr lang="en-US" sz="1550" dirty="0"/>
          </a:p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pace is accelerating: before and after COVID, before and after the smartphone, before and after AI. It is not 1985 anymore — and it won’t be 2026 for very long either.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like the Church herself — timeless in what she teaches, always adapting in how she reaches each generation — a school community has to hold both: one unchanging standard, taught freshly to every new family.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31520" cy="73152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mobile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69677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6400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schools decay faster than companies, #3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54480" y="9601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firewall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554480" y="1783080"/>
            <a:ext cx="9692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does not just distract children — it trains behavior: how to escalate, how to perform outrage, how to build an audience for cruelty.</a:t>
            </a:r>
            <a:endParaRPr lang="en-US" sz="1550" dirty="0"/>
          </a:p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culture didn’t stay on social media. It showed up in carpool lines and class parent group chats — many of our own school communities have lived through exactly that: a family tried and frozen out, without one direct conversation.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trains the adults too. Group chats, pile-ons, parenting as performance — the wider culture walks in the front door every morning.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CULTURE DRIFTS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4C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doesn’t become secular.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becomes something worse: an inversion.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BEATITUDES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 asks for more than reciprocity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Rule is mutual: treat others as you would want to be treated. The Beatitudes ask for something harder — unilateral, not mutual.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554480" cy="822960"/>
          </a:xfrm>
          <a:prstGeom prst="roundRect">
            <a:avLst>
              <a:gd name="adj" fmla="val 50000"/>
            </a:avLst>
          </a:prstGeom>
          <a:solidFill>
            <a:srgbClr val="131F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23160" y="2743200"/>
            <a:ext cx="2148840" cy="822960"/>
          </a:xfrm>
          <a:prstGeom prst="roundRect">
            <a:avLst>
              <a:gd name="adj" fmla="val 50000"/>
            </a:avLst>
          </a:prstGeom>
          <a:solidFill>
            <a:srgbClr val="131F33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27432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Peacemakers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00600" y="2743200"/>
            <a:ext cx="3246120" cy="822960"/>
          </a:xfrm>
          <a:prstGeom prst="roundRect">
            <a:avLst>
              <a:gd name="adj" fmla="val 50000"/>
            </a:avLst>
          </a:prstGeom>
          <a:solidFill>
            <a:srgbClr val="131F3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7432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Persecuted for righteousness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3246120" cy="822960"/>
          </a:xfrm>
          <a:prstGeom prst="roundRect">
            <a:avLst>
              <a:gd name="adj" fmla="val 50000"/>
            </a:avLst>
          </a:prstGeom>
          <a:solidFill>
            <a:srgbClr val="131F3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40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Forgive seventy times seven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0" y="3840480"/>
            <a:ext cx="2651760" cy="822960"/>
          </a:xfrm>
          <a:prstGeom prst="roundRect">
            <a:avLst>
              <a:gd name="adj" fmla="val 50000"/>
            </a:avLst>
          </a:prstGeom>
          <a:solidFill>
            <a:srgbClr val="131F33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the other cheek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5  ·  Matthew 18:21–22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9105" y="640080"/>
            <a:ext cx="822960" cy="82296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balance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4319" y="75529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737360"/>
            <a:ext cx="9628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50" i="1" dirty="0">
                <a:solidFill>
                  <a:srgbClr val="C4C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one side actually lives this — meekness, peacemaking, forgiving without being asked — and the other side is playing by Darwinian or Machiavellian rules, the exchange is lopsided before the conversation even starts.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005840" y="3291840"/>
            <a:ext cx="10177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Pure, one-sided mercy, in a fallen world, selects against the merciful over time.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63040" y="4709160"/>
            <a:ext cx="9262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isn’t only a theological claim. Evolutionary game theory has documented the same pattern for decades: unconditional cooperation loses to exploitation, unless it is paired with accountability.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131F33"/>
          </a:solidFill>
          <a:ln/>
        </p:spPr>
      </p:sp>
      <p:pic>
        <p:nvPicPr>
          <p:cNvPr id="3" name="Image 0" descr="icons/handsheart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94" y="703174"/>
            <a:ext cx="559613" cy="559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640080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actually tell the victim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600200" y="1691640"/>
            <a:ext cx="9921240" cy="960120"/>
          </a:xfrm>
          <a:prstGeom prst="roundRect">
            <a:avLst>
              <a:gd name="adj" fmla="val 7619"/>
            </a:avLst>
          </a:prstGeom>
          <a:solidFill>
            <a:srgbClr val="F3EEE2"/>
          </a:solidFill>
          <a:ln/>
        </p:spPr>
      </p:sp>
      <p:sp>
        <p:nvSpPr>
          <p:cNvPr id="6" name="Text 3"/>
          <p:cNvSpPr/>
          <p:nvPr/>
        </p:nvSpPr>
        <p:spPr>
          <a:xfrm>
            <a:off x="1920240" y="16916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A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“Stand up for yourself.”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212080" y="169164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burden of justice placed on a child, alone.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600200" y="2788920"/>
            <a:ext cx="9921240" cy="960120"/>
          </a:xfrm>
          <a:prstGeom prst="roundRect">
            <a:avLst>
              <a:gd name="adj" fmla="val 7619"/>
            </a:avLst>
          </a:prstGeom>
          <a:solidFill>
            <a:srgbClr val="F3EEE2"/>
          </a:solidFill>
          <a:ln/>
        </p:spPr>
      </p:sp>
      <p:sp>
        <p:nvSpPr>
          <p:cNvPr id="9" name="Text 6"/>
          <p:cNvSpPr/>
          <p:nvPr/>
        </p:nvSpPr>
        <p:spPr>
          <a:xfrm>
            <a:off x="1920240" y="2788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A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“Forgive. Keep the peace. Don’t cause a scandal.”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212080" y="278892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demanded of the child who was harmed; justice never sought at all.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600200" y="4069080"/>
            <a:ext cx="9921240" cy="1417320"/>
          </a:xfrm>
          <a:prstGeom prst="roundRect">
            <a:avLst>
              <a:gd name="adj" fmla="val 5161"/>
            </a:avLst>
          </a:prstGeom>
          <a:solidFill>
            <a:srgbClr val="131F33"/>
          </a:solidFill>
          <a:ln/>
        </p:spPr>
      </p:sp>
      <p:sp>
        <p:nvSpPr>
          <p:cNvPr id="12" name="Text 9"/>
          <p:cNvSpPr/>
          <p:nvPr/>
        </p:nvSpPr>
        <p:spPr>
          <a:xfrm>
            <a:off x="1965960" y="4069080"/>
            <a:ext cx="9189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i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is teaching this correctly. This is not a minor side effect. It is an inversion of the moral order the school exists to teach.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Justice is the prerequisite of mercy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737360" y="2514600"/>
            <a:ext cx="8714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C4C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Church has never taught that mercy replaces justice. Mercy does not cancel justice — it fulfills it. But fulfillment presupposes a foundation. You cannot fulfill what was never first established.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63040" y="4251960"/>
            <a:ext cx="9262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9A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Justice first. Mercy after — offered freely, but only once wrongdoing is actually named and owned.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bookopen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94" y="703174"/>
            <a:ext cx="559613" cy="559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64008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FORMATION NIGHT OF ITS OWN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600200" y="1005840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“Beatitudes with a Backbone”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600200" y="1965960"/>
            <a:ext cx="9464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Living every one of Christ’s hardest calls — meekness, mercy, turning the other cheek — without ever mistaking any of them for the absence of justice.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00200" y="3246120"/>
            <a:ext cx="9464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gets a full session in the formation series — not a footnote.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4A5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“bad kids.” Not “bad parents.”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gets in the way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66928" cy="566928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5" name="Image 0" descr="icons/crown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1652138"/>
            <a:ext cx="408188" cy="4081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4533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Pride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800600" y="1545336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reputation over admitting harm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244852"/>
            <a:ext cx="566928" cy="566928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9" name="Image 1" descr="icons/bed_C9A7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50" y="2324222"/>
            <a:ext cx="408188" cy="4081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21742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Laziness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800600" y="2217420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 and social — easier to look away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916936"/>
            <a:ext cx="566928" cy="566928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13" name="Image 2" descr="icons/plug_C9A7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50" y="2996306"/>
            <a:ext cx="408188" cy="4081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88950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Convenience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4800600" y="2889504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Confrontation costs something; avoidance is free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3589020"/>
            <a:ext cx="566928" cy="566928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17" name="Image 3" descr="icons/anchor_C9A75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50" y="3668390"/>
            <a:ext cx="408188" cy="4081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56158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Inertia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4800600" y="3561588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wants to be the first to say something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4261104"/>
            <a:ext cx="566928" cy="566928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21" name="Image 4" descr="icons/users_C9A75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50" y="4340474"/>
            <a:ext cx="408188" cy="4081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2336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dynamics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4800600" y="4233672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Bystanders stay silent; kind families quietly leave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40080" y="4933188"/>
            <a:ext cx="566928" cy="566928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25" name="Image 5" descr="icons/puzzle_C9A75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450" y="5012558"/>
            <a:ext cx="408188" cy="4081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17320" y="490575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 of shared language &amp; tools</a:t>
            </a:r>
            <a:endParaRPr lang="en-US" sz="1650" dirty="0"/>
          </a:p>
        </p:txBody>
      </p:sp>
      <p:sp>
        <p:nvSpPr>
          <p:cNvPr id="27" name="Text 19"/>
          <p:cNvSpPr/>
          <p:nvPr/>
        </p:nvSpPr>
        <p:spPr>
          <a:xfrm>
            <a:off x="4800600" y="4905756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common words and practices, even good-faith people talk past each other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3EEE2"/>
          </a:solidFill>
          <a:ln/>
        </p:spPr>
      </p:sp>
      <p:sp>
        <p:nvSpPr>
          <p:cNvPr id="29" name="Text 21"/>
          <p:cNvSpPr/>
          <p:nvPr/>
        </p:nvSpPr>
        <p:spPr>
          <a:xfrm>
            <a:off x="960120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all on the journey — some further along than others. Naming these together, honestly, is not shame. It is how a community grows in wisdom.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5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FIXES THIS — PART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it.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737360" y="2468880"/>
            <a:ext cx="87142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C4C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real culture turnaround starts the same way: a plain-language, specific statement of the standard and the expectations — not a vague values poster, a document people can point to mid-conflict.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5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FIXES THIS — PART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it, together.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737360" y="2468880"/>
            <a:ext cx="8714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C4C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reset is a moment — a covenant signing, a kickoff — but it only works if it activates a critical mass at once, so no single family is ever the only one holding the line.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5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FIXES THIS — PART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 it. Forever. On purpose.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554480" y="2468880"/>
            <a:ext cx="9079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4C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single biggest failure mode: mistaking the reset for the fix. Culture is maintained by roles, rituals, and shared language — repeated every year, with every new family, because the population turns over and no one else will do this automatically.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05840" y="2514600"/>
            <a:ext cx="101772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Savio Standard is the antidote to drifting Catholic school culture.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9105" y="777240"/>
            <a:ext cx="868680" cy="86868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bookbible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9885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IS CLEAR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28600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Rule is the Standard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463040" y="3246120"/>
            <a:ext cx="9262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300" i="1" dirty="0">
                <a:solidFill>
                  <a:srgbClr val="C4C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“So in everything, do to others what you would have them do to you, for this sums up the Law and the Prophets.”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463040" y="4434840"/>
            <a:ext cx="9262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7:12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5120640"/>
            <a:ext cx="926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goal we hope to reach eventually. The floor everyone stands on, starting now.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for those who already did this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3EEE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965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St. Dominic Savio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46888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schoolboy saint who organized his classmates into a company of mutual care, and defended the smallest boys from bullying.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3EEE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965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St. John Bosco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46888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teacher, whose “preventive system” formed young people through reason, religion, and loving-kindness — before punishment was ever needed.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system: six pillars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31F33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508760"/>
            <a:ext cx="594360" cy="594360"/>
          </a:xfrm>
          <a:prstGeom prst="ellipse">
            <a:avLst/>
          </a:prstGeom>
          <a:solidFill>
            <a:srgbClr val="A5802E"/>
          </a:solidFill>
          <a:ln/>
        </p:spPr>
      </p:sp>
      <p:pic>
        <p:nvPicPr>
          <p:cNvPr id="5" name="Image 0" descr="icons/users_131F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15919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240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Leads &amp; Homeroom Hosts — answers isolation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2801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31F33"/>
          </a:solidFill>
          <a:ln/>
        </p:spPr>
      </p:sp>
      <p:sp>
        <p:nvSpPr>
          <p:cNvPr id="9" name="Shape 6"/>
          <p:cNvSpPr/>
          <p:nvPr/>
        </p:nvSpPr>
        <p:spPr>
          <a:xfrm>
            <a:off x="4526280" y="1508760"/>
            <a:ext cx="594360" cy="594360"/>
          </a:xfrm>
          <a:prstGeom prst="ellipse">
            <a:avLst/>
          </a:prstGeom>
          <a:solidFill>
            <a:srgbClr val="A5802E"/>
          </a:solidFill>
          <a:ln/>
        </p:spPr>
      </p:sp>
      <p:pic>
        <p:nvPicPr>
          <p:cNvPr id="10" name="Image 1" descr="icons/bookopen_131F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490" y="159197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240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52628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education series — answers outsourcing to the office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955280" y="12801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31F33"/>
          </a:solidFill>
          <a:ln/>
        </p:spPr>
      </p:sp>
      <p:sp>
        <p:nvSpPr>
          <p:cNvPr id="14" name="Shape 10"/>
          <p:cNvSpPr/>
          <p:nvPr/>
        </p:nvSpPr>
        <p:spPr>
          <a:xfrm>
            <a:off x="8183880" y="1508760"/>
            <a:ext cx="594360" cy="594360"/>
          </a:xfrm>
          <a:prstGeom prst="ellipse">
            <a:avLst/>
          </a:prstGeom>
          <a:solidFill>
            <a:srgbClr val="A5802E"/>
          </a:solidFill>
          <a:ln/>
        </p:spPr>
      </p:sp>
      <p:pic>
        <p:nvPicPr>
          <p:cNvPr id="15" name="Image 2" descr="icons/comments_131F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090" y="159197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83880" y="2240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Language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18388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Covenant + Glossary — answers “kids will be kids” vagueness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37947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31F33"/>
          </a:solidFill>
          <a:ln/>
        </p:spPr>
      </p:sp>
      <p:sp>
        <p:nvSpPr>
          <p:cNvPr id="19" name="Shape 14"/>
          <p:cNvSpPr/>
          <p:nvPr/>
        </p:nvSpPr>
        <p:spPr>
          <a:xfrm>
            <a:off x="868680" y="4023360"/>
            <a:ext cx="594360" cy="594360"/>
          </a:xfrm>
          <a:prstGeom prst="ellipse">
            <a:avLst/>
          </a:prstGeom>
          <a:solidFill>
            <a:srgbClr val="A5802E"/>
          </a:solidFill>
          <a:ln/>
        </p:spPr>
      </p:sp>
      <p:pic>
        <p:nvPicPr>
          <p:cNvPr id="20" name="Image 3" descr="icons/handshake_131F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" y="410657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" y="4754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Navigation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68680" y="51663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+ trained facilitators — answers failed conversations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297680" y="37947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31F33"/>
          </a:solidFill>
          <a:ln/>
        </p:spPr>
      </p:sp>
      <p:sp>
        <p:nvSpPr>
          <p:cNvPr id="24" name="Shape 18"/>
          <p:cNvSpPr/>
          <p:nvPr/>
        </p:nvSpPr>
        <p:spPr>
          <a:xfrm>
            <a:off x="4526280" y="4023360"/>
            <a:ext cx="594360" cy="594360"/>
          </a:xfrm>
          <a:prstGeom prst="ellipse">
            <a:avLst/>
          </a:prstGeom>
          <a:solidFill>
            <a:srgbClr val="A5802E"/>
          </a:solidFill>
          <a:ln/>
        </p:spPr>
      </p:sp>
      <p:pic>
        <p:nvPicPr>
          <p:cNvPr id="25" name="Image 4" descr="icons/shield_131F3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490" y="4106570"/>
            <a:ext cx="427939" cy="42793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26280" y="4754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Upstander Kids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4526280" y="51663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children’s program — answers the silent bystander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7955280" y="37947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31F33"/>
          </a:solidFill>
          <a:ln/>
        </p:spPr>
      </p:sp>
      <p:sp>
        <p:nvSpPr>
          <p:cNvPr id="29" name="Shape 22"/>
          <p:cNvSpPr/>
          <p:nvPr/>
        </p:nvSpPr>
        <p:spPr>
          <a:xfrm>
            <a:off x="8183880" y="4023360"/>
            <a:ext cx="594360" cy="594360"/>
          </a:xfrm>
          <a:prstGeom prst="ellipse">
            <a:avLst/>
          </a:prstGeom>
          <a:solidFill>
            <a:srgbClr val="A5802E"/>
          </a:solidFill>
          <a:ln/>
        </p:spPr>
      </p:sp>
      <p:pic>
        <p:nvPicPr>
          <p:cNvPr id="30" name="Image 5" descr="icons/mobile_131F3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7090" y="4106570"/>
            <a:ext cx="427939" cy="42793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183880" y="4754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Oversight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8183880" y="51663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norms — answers phones and social media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31520" cy="73152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redo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69677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6400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turnover, not just launch well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54480" y="1691640"/>
            <a:ext cx="9692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Covenant is renewed every single year, and activates once eight families in a grade have signed — so no family ever stands alone.</a:t>
            </a:r>
            <a:endParaRPr lang="en-US" sz="1900" dirty="0"/>
          </a:p>
          <a:p>
            <a:pPr indent="0" marL="0">
              <a:lnSpc>
                <a:spcPct val="135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Glossary is retaught to every incoming family, every year, regardless of who is new.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does not rely on tribal memory. It is written, taught, and renewed — on purpose, every year, forever.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has to run in every direction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5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kid-to-kid. The same standard, the same language, every relationship in the building.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3EEE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6" name="Image 0" descr="icons/exchange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9" y="226496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94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↔ Student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Same-role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20116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3EEE2"/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2194560"/>
            <a:ext cx="502920" cy="50292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11" name="Image 1" descr="icons/exchange_C9A7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969" y="226496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2194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↔ Parent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480560" y="2880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Same-role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55280" y="20116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3EEE2"/>
          </a:solidFill>
          <a:ln/>
        </p:spPr>
      </p:sp>
      <p:sp>
        <p:nvSpPr>
          <p:cNvPr id="15" name="Shape 11"/>
          <p:cNvSpPr/>
          <p:nvPr/>
        </p:nvSpPr>
        <p:spPr>
          <a:xfrm>
            <a:off x="8138160" y="2194560"/>
            <a:ext cx="502920" cy="50292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16" name="Image 2" descr="icons/exchange_C9A7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69" y="226496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2194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↔ Staff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138160" y="2880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Same-role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6118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31F33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3794760"/>
            <a:ext cx="502920" cy="502920"/>
          </a:xfrm>
          <a:prstGeom prst="ellipse">
            <a:avLst/>
          </a:prstGeom>
          <a:solidFill>
            <a:srgbClr val="A5802E"/>
          </a:solidFill>
          <a:ln/>
        </p:spPr>
      </p:sp>
      <p:pic>
        <p:nvPicPr>
          <p:cNvPr id="21" name="Image 3" descr="icons/exchange_131F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69" y="386516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794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↔ Teacher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4480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Cross-role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6118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31F33"/>
          </a:solidFill>
          <a:ln/>
        </p:spPr>
      </p:sp>
      <p:sp>
        <p:nvSpPr>
          <p:cNvPr id="25" name="Shape 19"/>
          <p:cNvSpPr/>
          <p:nvPr/>
        </p:nvSpPr>
        <p:spPr>
          <a:xfrm>
            <a:off x="4480560" y="3794760"/>
            <a:ext cx="502920" cy="502920"/>
          </a:xfrm>
          <a:prstGeom prst="ellipse">
            <a:avLst/>
          </a:prstGeom>
          <a:solidFill>
            <a:srgbClr val="A5802E"/>
          </a:solidFill>
          <a:ln/>
        </p:spPr>
      </p:sp>
      <p:pic>
        <p:nvPicPr>
          <p:cNvPr id="26" name="Image 4" descr="icons/exchange_131F3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0969" y="3865169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794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↔ Administration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480560" y="4480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Cross-role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55280" y="36118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31F33"/>
          </a:solidFill>
          <a:ln/>
        </p:spPr>
      </p:sp>
      <p:sp>
        <p:nvSpPr>
          <p:cNvPr id="30" name="Shape 23"/>
          <p:cNvSpPr/>
          <p:nvPr/>
        </p:nvSpPr>
        <p:spPr>
          <a:xfrm>
            <a:off x="8138160" y="3794760"/>
            <a:ext cx="502920" cy="502920"/>
          </a:xfrm>
          <a:prstGeom prst="ellipse">
            <a:avLst/>
          </a:prstGeom>
          <a:solidFill>
            <a:srgbClr val="A5802E"/>
          </a:solidFill>
          <a:ln/>
        </p:spPr>
      </p:sp>
      <p:pic>
        <p:nvPicPr>
          <p:cNvPr id="31" name="Image 5" descr="icons/exchange_131F3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8569" y="3865169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78240" y="3794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↔ Parish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138160" y="4480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Cross-role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naive idealism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3EEE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147,000+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pledged through Wait Until 8th’s parent-to-parent mechanic, zero institutional authority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3258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3EEE2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4630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46520" y="21945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schools implementing Virtue-Based Restorative Discipline with fidelity saw reduced bullying (Archdiocese of St. Louis)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3EEE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118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of 10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bystander-intervention programs improved bystander confidence and intent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34747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3EEE2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6118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CCC 2223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46520" y="43434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Church’s own teaching: parents, not schools, are the primary educators of their children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INVITATION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639105" y="1234440"/>
            <a:ext cx="914400" cy="91440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4" name="Image 0" descr="icons/seedling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7121" y="136245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468880"/>
            <a:ext cx="10177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Savio Standard is the antidote to drifting Catholic school culture.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005840" y="4069080"/>
            <a:ext cx="10177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Rule is the standard, not the goal.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580644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saviostandard.org  ·  Sign the Family Covenant  ·  Join the founding team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2026-07-22T19:23:24Z</dcterms:created>
  <dcterms:modified xsi:type="dcterms:W3CDTF">2026-07-22T19:23:24Z</dcterms:modified>
</cp:coreProperties>
</file>